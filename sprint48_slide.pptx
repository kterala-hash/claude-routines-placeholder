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749808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6400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Fira Sans"/>
              </a:rPr>
              <a:t>Executive Summary – GD Core Team   Project Health: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420624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Fira Sans"/>
              </a:rPr>
              <a:t>Mars – Digital Health Transformation  ·  Sprint 48 · Jun 23 – Jul 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91440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  <a:latin typeface="Fira Sans"/>
              </a:rPr>
              <a:t>www.griddynamics.com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657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BBDEFB"/>
                </a:solidFill>
                <a:latin typeface="Fira Sans"/>
              </a:rPr>
              <a:t>trusted engineering partner for digital transformation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04320" y="201168"/>
            <a:ext cx="365760" cy="29260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0" y="201168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Fira Sans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82296" cy="320040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6601968"/>
            <a:ext cx="7772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DEFB"/>
                </a:solidFill>
                <a:latin typeface="Fira Sans"/>
              </a:rPr>
              <a:t>Grid Dynamics / Mars – Digital Health Transformation / WSR – June 29,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601968"/>
            <a:ext cx="3337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BDEFB"/>
                </a:solidFill>
                <a:latin typeface="Fira Sans"/>
              </a:rPr>
              <a:t>Privileged and confidential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49808"/>
            <a:ext cx="12188952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" y="859536"/>
            <a:ext cx="2809494" cy="27432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" y="896112"/>
            <a:ext cx="280949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Fira Sans"/>
              </a:rPr>
              <a:t>TOOTHSCAN 2.0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" y="1207008"/>
            <a:ext cx="2809494" cy="9144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" y="1298448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ToothScan 2.0 – Pet Parent Experience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" y="1572768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E7D32"/>
                </a:solidFill>
                <a:latin typeface="Fira Sans"/>
              </a:rPr>
              <a:t>● </a:t>
            </a:r>
            <a:r>
              <a:rPr sz="1700" b="1">
                <a:solidFill>
                  <a:srgbClr val="2E7D32"/>
                </a:solidFill>
                <a:latin typeface="Fira Sans"/>
              </a:rPr>
              <a:t>COMPLETED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" y="181051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Fixed content on welcome page &amp; fun fact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" y="2029968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Resolved spacing issues in user questionnaire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" y="224942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Restored back button on Additional Resources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" y="2468880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Resolved mobile Stage testing observations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" y="2688336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E65100"/>
                </a:solidFill>
                <a:latin typeface="Fira Sans"/>
              </a:rPr>
              <a:t>● </a:t>
            </a:r>
            <a:r>
              <a:rPr sz="1700" b="1">
                <a:solidFill>
                  <a:srgbClr val="E65100"/>
                </a:solidFill>
                <a:latin typeface="Fira Sans"/>
              </a:rPr>
              <a:t>QA /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" y="2926080"/>
            <a:ext cx="264490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Config ID stored in Outcomes DB – ToothScan tool updated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" y="3291840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CAS updated to persist Config ID in outcomes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" y="3511296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App context updated with Config ID across all 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" y="3730752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" y="3968496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User Journey deployment to Preprod &amp; Production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" y="418795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Backend logger error resolution in ToothScan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" y="4407408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555555"/>
                </a:solidFill>
                <a:latin typeface="Fira Sans"/>
              </a:rPr>
              <a:t>● </a:t>
            </a:r>
            <a:r>
              <a:rPr sz="1700" b="1">
                <a:solidFill>
                  <a:srgbClr val="555555"/>
                </a:solidFill>
                <a:latin typeface="Fira Sans"/>
              </a:rPr>
              <a:t>PLANNED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" y="464515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Updated image upload error screens (new Figma designs)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" y="4864608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Validation messages display fix on preview screen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" y="508406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Image Not Found error handling on user submission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" y="5303520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Clickable option display correction on preview screen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47238" y="749808"/>
            <a:ext cx="10972" cy="5788152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6110" y="859536"/>
            <a:ext cx="2809494" cy="27432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66110" y="896112"/>
            <a:ext cx="280949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Fira Sans"/>
              </a:rPr>
              <a:t>SDK – JOURNEY NAVIGATION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6110" y="1207008"/>
            <a:ext cx="2809494" cy="9144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66110" y="1298448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Configurable Journey Navigation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66110" y="1572768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E7D32"/>
                </a:solidFill>
                <a:latin typeface="Fira Sans"/>
              </a:rPr>
              <a:t>● </a:t>
            </a:r>
            <a:r>
              <a:rPr sz="1700" b="1">
                <a:solidFill>
                  <a:srgbClr val="2E7D32"/>
                </a:solidFill>
                <a:latin typeface="Fira Sans"/>
              </a:rPr>
              <a:t>COMPLETED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0702" y="181051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Navigation Rules save validation delivered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0702" y="2029968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Navigation Rules &amp; View Conditions schema completed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66110" y="2249424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0702" y="2487168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UX design for navigation rules in SDK 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0702" y="270662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Screen lifecycle actions in Screen Builder (FE)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66110" y="2926080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555555"/>
                </a:solidFill>
                <a:latin typeface="Fira Sans"/>
              </a:rPr>
              <a:t>● </a:t>
            </a:r>
            <a:r>
              <a:rPr sz="1700" b="1">
                <a:solidFill>
                  <a:srgbClr val="555555"/>
                </a:solidFill>
                <a:latin typeface="Fira Sans"/>
              </a:rPr>
              <a:t>PLANNED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30702" y="316382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Screen lifecycle actions execution in SDK runtime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30702" y="3383280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Idempotent outcome persistence for lifecycle actions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4476" y="749808"/>
            <a:ext cx="10972" cy="5788152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3348" y="859536"/>
            <a:ext cx="2809494" cy="27432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3348" y="896112"/>
            <a:ext cx="280949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Fira Sans"/>
              </a:rPr>
              <a:t>SDK – CONFIG ID BUNDLES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3348" y="1207008"/>
            <a:ext cx="2809494" cy="9144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3348" y="1298448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Config ID Bundle Management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3348" y="1572768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7940" y="181051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Configuration history integration design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77940" y="2029968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Configuration variants relationship design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3348" y="2377440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Edit Sub Brand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3348" y="2651760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77940" y="288950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Sub-brand logo override from parent brand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3348" y="3108960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555555"/>
                </a:solidFill>
                <a:latin typeface="Fira Sans"/>
              </a:rPr>
              <a:t>● </a:t>
            </a:r>
            <a:r>
              <a:rPr sz="1700" b="1">
                <a:solidFill>
                  <a:srgbClr val="555555"/>
                </a:solidFill>
                <a:latin typeface="Fira Sans"/>
              </a:rPr>
              <a:t>PLANNED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77940" y="334670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Sub-brand creation workflow bug resolution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3348" y="3694176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Transition Live Tools → SDK Manager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3348" y="3968496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77940" y="4206240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Onboarding 7 live tools to SDK Manager with Config IDs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77940" y="4425696"/>
            <a:ext cx="264490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(PWC, KWC, ToothCheck, ToothScan, PoopScan, Dermascan, Pawscan)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1714" y="749808"/>
            <a:ext cx="10972" cy="5788152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260586" y="859536"/>
            <a:ext cx="2809494" cy="27432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260586" y="896112"/>
            <a:ext cx="280949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Fira Sans"/>
              </a:rPr>
              <a:t>SDK – VERSION WORKFLOW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260586" y="1207008"/>
            <a:ext cx="2809494" cy="9144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260586" y="1298448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SDK Version Workflow Enhancements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60586" y="1572768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25178" y="1810512"/>
            <a:ext cx="264490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Save/Delete/Lifecycle consistency design for Versions &amp; Variants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25178" y="217627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Safe &amp; consistent lifecycle implementation (FE &amp; BE)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60586" y="2523744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Template Creation from SDK Version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60586" y="2798064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555555"/>
                </a:solidFill>
                <a:latin typeface="Fira Sans"/>
              </a:rPr>
              <a:t>● </a:t>
            </a:r>
            <a:r>
              <a:rPr sz="1700" b="1">
                <a:solidFill>
                  <a:srgbClr val="555555"/>
                </a:solidFill>
                <a:latin typeface="Fira Sans"/>
              </a:rPr>
              <a:t>PLANNED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25178" y="3035808"/>
            <a:ext cx="264490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Template creation from existing SDK Version in SDK Manager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60586" y="3529584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Platform Stability &amp; Modernization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60586" y="3803904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555555"/>
                </a:solidFill>
                <a:latin typeface="Fira Sans"/>
              </a:rPr>
              <a:t>● </a:t>
            </a:r>
            <a:r>
              <a:rPr sz="1700" b="1">
                <a:solidFill>
                  <a:srgbClr val="555555"/>
                </a:solidFill>
                <a:latin typeface="Fira Sans"/>
              </a:rPr>
              <a:t>PLANNED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425178" y="4041648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Reusable large text content component for D&amp;D builder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25178" y="426110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SDK Version Template listing by species &amp; tool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749808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6400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Fira Sans"/>
              </a:rPr>
              <a:t>Executive Summary – GD Core Team   Project Health: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420624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Fira Sans"/>
              </a:rPr>
              <a:t>Mars – Digital Health Transformation  ·  Sprint 48 · Jun 23 – Jul 6,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91440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  <a:latin typeface="Fira Sans"/>
              </a:rPr>
              <a:t>www.griddynamics.com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65760"/>
            <a:ext cx="3063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BBDEFB"/>
                </a:solidFill>
                <a:latin typeface="Fira Sans"/>
              </a:rPr>
              <a:t>trusted engineering partner for digital transformation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04320" y="201168"/>
            <a:ext cx="365760" cy="29260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0" y="201168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Fira Sans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82296" cy="320040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6601968"/>
            <a:ext cx="7772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DEFB"/>
                </a:solidFill>
                <a:latin typeface="Fira Sans"/>
              </a:rPr>
              <a:t>Grid Dynamics / Mars – Digital Health Transformation / WSR – June 29,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601968"/>
            <a:ext cx="3337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BDEFB"/>
                </a:solidFill>
                <a:latin typeface="Fira Sans"/>
              </a:rPr>
              <a:t>Privileged and confidential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49808"/>
            <a:ext cx="12188952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" y="859536"/>
            <a:ext cx="2809494" cy="27432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" y="896112"/>
            <a:ext cx="280949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Fira Sans"/>
              </a:rPr>
              <a:t>FEEDBACK CAPTURE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" y="1207008"/>
            <a:ext cx="2809494" cy="9144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" y="1298448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Feedback Capture – All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" y="1572768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" y="181051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Feedback submission API backend implementation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" y="2029968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555555"/>
                </a:solidFill>
                <a:latin typeface="Fira Sans"/>
              </a:rPr>
              <a:t>● </a:t>
            </a:r>
            <a:r>
              <a:rPr sz="1700" b="1">
                <a:solidFill>
                  <a:srgbClr val="555555"/>
                </a:solidFill>
                <a:latin typeface="Fira Sans"/>
              </a:rPr>
              <a:t>PLANNED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" y="226771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Feedback Form frontend component (D&amp;D, Macro, Preview)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" y="2487168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Feedback Form API integration in SDK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" y="270662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Feedback analytics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" y="2926080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Feedback form frequency &amp; TTL settings in SDK Manager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7238" y="749808"/>
            <a:ext cx="10972" cy="5788152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66110" y="859536"/>
            <a:ext cx="2809494" cy="27432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66110" y="896112"/>
            <a:ext cx="280949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Fira Sans"/>
              </a:rPr>
              <a:t>BACKEND – INFRA &amp; MIGRATION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66110" y="1207008"/>
            <a:ext cx="2809494" cy="9144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66110" y="1298448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Monorepo Migration – Backend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66110" y="1572768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555555"/>
                </a:solidFill>
                <a:latin typeface="Fira Sans"/>
              </a:rPr>
              <a:t>● </a:t>
            </a:r>
            <a:r>
              <a:rPr sz="1700" b="1">
                <a:solidFill>
                  <a:srgbClr val="555555"/>
                </a:solidFill>
                <a:latin typeface="Fira Sans"/>
              </a:rPr>
              <a:t>PLANNED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0702" y="181051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Config-driven backend URL resolution (Check &amp; Care SDK)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0702" y="2029968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Datadog monitoring migration &amp; shared library alignment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66110" y="2377440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Production Monitoring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6110" y="2651760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0702" y="288950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Sprint 48 production log monitoring &amp; alerting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4476" y="749808"/>
            <a:ext cx="10972" cy="5788152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3348" y="859536"/>
            <a:ext cx="2809494" cy="27432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3348" y="896112"/>
            <a:ext cx="280949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Fira Sans"/>
              </a:rPr>
              <a:t>DEVOPS &amp; SDK MANAGER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3348" y="1207008"/>
            <a:ext cx="2809494" cy="9144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3348" y="1298448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DevOps – Apply DevOps Practices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3348" y="1572768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7940" y="181051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Sprint 48 CI/CD workflow maintenance &amp; fixes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7940" y="2029968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Azure infrastructure provisioning automation discovery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3348" y="2377440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SDK Manager – Misc Enhancements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3348" y="2651760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E7D32"/>
                </a:solidFill>
                <a:latin typeface="Fira Sans"/>
              </a:rPr>
              <a:t>● </a:t>
            </a:r>
            <a:r>
              <a:rPr sz="1700" b="1">
                <a:solidFill>
                  <a:srgbClr val="2E7D32"/>
                </a:solidFill>
                <a:latin typeface="Fira Sans"/>
              </a:rPr>
              <a:t>COMPLETED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7940" y="288950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Variant Configurations view (backend) delivered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3348" y="3108960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7940" y="3346704"/>
            <a:ext cx="264490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Environment banner in SDK Manager header (Dev/Stage/PreProd/Prod)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7940" y="371246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Bundle validation alert when deleting assigned bundles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7940" y="3931920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Calendar UI fix for Anicura SDK date entry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7940" y="4151376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Bundle Draft status display correction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1714" y="749808"/>
            <a:ext cx="10972" cy="5788152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60586" y="859536"/>
            <a:ext cx="2809494" cy="27432"/>
          </a:xfrm>
          <a:prstGeom prst="rect">
            <a:avLst/>
          </a:prstGeom>
          <a:solidFill>
            <a:srgbClr val="E83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60586" y="896112"/>
            <a:ext cx="280949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Fira Sans"/>
              </a:rPr>
              <a:t>QA &amp; CROSS-CUTTING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60586" y="1207008"/>
            <a:ext cx="2809494" cy="9144"/>
          </a:xfrm>
          <a:prstGeom prst="rect">
            <a:avLst/>
          </a:prstGeom>
          <a:solidFill>
            <a:srgbClr val="C8C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60586" y="1298448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QA Activities – Sprint 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60586" y="1572768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25178" y="1810512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Integration testing for ToothScan 2.0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25178" y="2029968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GA tag verification for ToothScan 2.0 user journey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25178" y="224942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Image upload scenario verification for ToothScan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60586" y="2596896"/>
            <a:ext cx="28094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  <a:latin typeface="Fira Sans"/>
              </a:rPr>
              <a:t>Config ID – SDK App Context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60586" y="2871216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565C0"/>
                </a:solidFill>
                <a:latin typeface="Fira Sans"/>
              </a:rPr>
              <a:t>● </a:t>
            </a:r>
            <a:r>
              <a:rPr sz="1700" b="1">
                <a:solidFill>
                  <a:srgbClr val="1565C0"/>
                </a:solidFill>
                <a:latin typeface="Fira Sans"/>
              </a:rPr>
              <a:t>IN PROGRESS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25178" y="3108960"/>
            <a:ext cx="264490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Config ID integration in SDK app context across API requests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60586" y="3474720"/>
            <a:ext cx="28094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555555"/>
                </a:solidFill>
                <a:latin typeface="Fira Sans"/>
              </a:rPr>
              <a:t>● </a:t>
            </a:r>
            <a:r>
              <a:rPr sz="1700" b="1">
                <a:solidFill>
                  <a:srgbClr val="555555"/>
                </a:solidFill>
                <a:latin typeface="Fira Sans"/>
              </a:rPr>
              <a:t>PLANNED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5178" y="3712464"/>
            <a:ext cx="2644901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Demo application Config ID-based SDK launch support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25178" y="3931920"/>
            <a:ext cx="264490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D3D3D"/>
                </a:solidFill>
                <a:latin typeface="Fira Sans"/>
              </a:rPr>
              <a:t>Weight range updates for Puppy &amp; Kitten Weight Check 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