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54864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Executive Summary – GD Core Team   Project Health: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383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Mars – Digital Health Transformation  ·  Sprint 48 · Jun 23 – Jul 6,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3152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www.griddynamics.com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7432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1">
                <a:solidFill>
                  <a:srgbClr val="BBDEFB"/>
                </a:solidFill>
                <a:latin typeface="Calibri"/>
              </a:rPr>
              <a:t>trusted engineering partner for digital transformation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0" y="173736"/>
            <a:ext cx="384048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173736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64008" cy="274320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" y="662940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DEFB"/>
                </a:solidFill>
                <a:latin typeface="Calibri"/>
              </a:rPr>
              <a:t>Grid Dynamics / Mars – Digital Health Transformation / WSR – June 29,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62940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DEFB"/>
                </a:solidFill>
                <a:latin typeface="Calibri"/>
              </a:rPr>
              <a:t>Privileged and confidential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"/>
            <a:ext cx="12188952" cy="5925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" y="749808"/>
            <a:ext cx="2864358" cy="22860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" y="777240"/>
            <a:ext cx="28643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Calibri"/>
              </a:rPr>
              <a:t>TOOTHSCAN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960120"/>
            <a:ext cx="2864358" cy="7315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" y="978408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ToothScan 2.0 – Pet Parent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" y="115214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E7D32"/>
                </a:solidFill>
                <a:latin typeface="Calibri"/>
              </a:rPr>
              <a:t>● </a:t>
            </a:r>
            <a:r>
              <a:rPr sz="750" b="1">
                <a:solidFill>
                  <a:srgbClr val="2E7D32"/>
                </a:solidFill>
                <a:latin typeface="Calibri"/>
              </a:rPr>
              <a:t>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129844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Fixed content on welcome page &amp; fun fact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" y="143103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Resolved spacing issues in user questionnaire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" y="1563624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Restored back button on Additional Resources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" y="1696212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Resolved mobile Stage testing observations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" y="1828800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E65100"/>
                </a:solidFill>
                <a:latin typeface="Calibri"/>
              </a:rPr>
              <a:t>● </a:t>
            </a:r>
            <a:r>
              <a:rPr sz="750" b="1">
                <a:solidFill>
                  <a:srgbClr val="E65100"/>
                </a:solidFill>
                <a:latin typeface="Calibri"/>
              </a:rPr>
              <a:t>QA /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" y="1975104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Config ID stored in Outcomes DB – ToothScan tool updated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" y="2107692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CAS updated to persist Config ID in outcomes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" y="2240280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App context updated with Config ID across all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" y="2372868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" y="2519172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User Journey deployment to Preprod &amp;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" y="2651760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Backend logger error resolution in ToothScan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" y="2784348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555555"/>
                </a:solidFill>
                <a:latin typeface="Calibri"/>
              </a:rPr>
              <a:t>● </a:t>
            </a:r>
            <a:r>
              <a:rPr sz="750" b="1">
                <a:solidFill>
                  <a:srgbClr val="555555"/>
                </a:solidFill>
                <a:latin typeface="Calibri"/>
              </a:rPr>
              <a:t>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" y="2930652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Updated image upload error screens (new Figma designs)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" y="3063240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Validation messages display fix on preview screen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" y="319582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Image Not Found error handling on user submission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" y="332841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Clickable option display correction on preview screen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47238" y="658368"/>
            <a:ext cx="10972" cy="5925312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38678" y="749808"/>
            <a:ext cx="2864358" cy="22860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8678" y="777240"/>
            <a:ext cx="28643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Calibri"/>
              </a:rPr>
              <a:t>SDK – JOURNEY NAVIGATION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38678" y="960120"/>
            <a:ext cx="2864358" cy="7315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38678" y="978408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Configurable Journey Navigation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8678" y="115214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E7D32"/>
                </a:solidFill>
                <a:latin typeface="Calibri"/>
              </a:rPr>
              <a:t>● </a:t>
            </a:r>
            <a:r>
              <a:rPr sz="750" b="1">
                <a:solidFill>
                  <a:srgbClr val="2E7D32"/>
                </a:solidFill>
                <a:latin typeface="Calibri"/>
              </a:rPr>
              <a:t>COMPLETED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6694" y="129844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Navigation Rules save validation delivered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66694" y="143103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Navigation Rules &amp; View Conditions schema completed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38678" y="156362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66694" y="170992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UX design for navigation rules in SDK Manager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66694" y="1842515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Screen lifecycle actions in Screen Builder (FE)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38678" y="1975103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555555"/>
                </a:solidFill>
                <a:latin typeface="Calibri"/>
              </a:rPr>
              <a:t>● </a:t>
            </a:r>
            <a:r>
              <a:rPr sz="750" b="1">
                <a:solidFill>
                  <a:srgbClr val="555555"/>
                </a:solidFill>
                <a:latin typeface="Calibri"/>
              </a:rPr>
              <a:t>PLANNED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66694" y="212140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Screen lifecycle actions execution in SDK runtime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66694" y="225399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Idempotent outcome persistence for lifecycle actions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4476" y="658368"/>
            <a:ext cx="10972" cy="5925312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85916" y="749808"/>
            <a:ext cx="2864358" cy="22860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85916" y="777240"/>
            <a:ext cx="28643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Calibri"/>
              </a:rPr>
              <a:t>SDK – CONFIG ID BUNDLES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85916" y="960120"/>
            <a:ext cx="2864358" cy="7315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85916" y="978408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Config ID Bundle Management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85916" y="115214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13931" y="129844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Configuration history integration design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13931" y="143103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Configuration variants relationship design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85916" y="1636776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Edit Sub Brand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85916" y="1810512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13931" y="195681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Sub-brand logo override from parent brand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85916" y="208940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555555"/>
                </a:solidFill>
                <a:latin typeface="Calibri"/>
              </a:rPr>
              <a:t>● </a:t>
            </a:r>
            <a:r>
              <a:rPr sz="750" b="1">
                <a:solidFill>
                  <a:srgbClr val="555555"/>
                </a:solidFill>
                <a:latin typeface="Calibri"/>
              </a:rPr>
              <a:t>PLANNED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13931" y="223570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Sub-brand creation workflow bug resolution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85916" y="2441448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Transition Live Tools → SDK Manager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85916" y="261518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13931" y="276148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Onboarding 7 live tools to SDK Manager with Config IDs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13931" y="289407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(PWC, KWC, ToothCheck, ToothScan, PoopScan, Dermascan, Pawscan)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1714" y="658368"/>
            <a:ext cx="10972" cy="5925312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3154" y="749808"/>
            <a:ext cx="2864358" cy="22860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33154" y="777240"/>
            <a:ext cx="28643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Calibri"/>
              </a:rPr>
              <a:t>SDK – VERSION WORKFLOW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33154" y="960120"/>
            <a:ext cx="2864358" cy="7315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33154" y="978408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SDK Version Workflow Enhancements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33154" y="115214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61170" y="129844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Save/Delete/Lifecycle consistency design for Versions &amp; Variants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61170" y="143103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Safe &amp; consistent lifecycle implementation (FE &amp; BE)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33154" y="1636776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Template Creation from SDK Version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3154" y="1810512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555555"/>
                </a:solidFill>
                <a:latin typeface="Calibri"/>
              </a:rPr>
              <a:t>● </a:t>
            </a:r>
            <a:r>
              <a:rPr sz="750" b="1">
                <a:solidFill>
                  <a:srgbClr val="555555"/>
                </a:solidFill>
                <a:latin typeface="Calibri"/>
              </a:rPr>
              <a:t>PLANNED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61170" y="195681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Template creation from existing SDK Version in SDK Manager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3154" y="2162556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Platform Stability &amp; Modernization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33154" y="2336292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555555"/>
                </a:solidFill>
                <a:latin typeface="Calibri"/>
              </a:rPr>
              <a:t>● </a:t>
            </a:r>
            <a:r>
              <a:rPr sz="750" b="1">
                <a:solidFill>
                  <a:srgbClr val="555555"/>
                </a:solidFill>
                <a:latin typeface="Calibri"/>
              </a:rPr>
              <a:t>PLANNED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61170" y="248259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Reusable large text content component for D&amp;D builder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61170" y="2615184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SDK Version Template listing by species &amp; 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54864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Executive Summary – GD Core Team   Project Health: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3832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DEFB"/>
                </a:solidFill>
                <a:latin typeface="Calibri"/>
              </a:rPr>
              <a:t>Mars – Digital Health Transformation  ·  Sprint 48 · Jun 23 – Jul 6,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3152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www.griddynamics.com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7432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1">
                <a:solidFill>
                  <a:srgbClr val="BBDEFB"/>
                </a:solidFill>
                <a:latin typeface="Calibri"/>
              </a:rPr>
              <a:t>trusted engineering partner for digital transformation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0" y="173736"/>
            <a:ext cx="384048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173736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64008" cy="274320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" y="662940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DEFB"/>
                </a:solidFill>
                <a:latin typeface="Calibri"/>
              </a:rPr>
              <a:t>Grid Dynamics / Mars – Digital Health Transformation / WSR – June 29,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62940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BBDEFB"/>
                </a:solidFill>
                <a:latin typeface="Calibri"/>
              </a:rPr>
              <a:t>Privileged and confidential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"/>
            <a:ext cx="12188952" cy="5925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" y="749808"/>
            <a:ext cx="2864358" cy="22860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" y="777240"/>
            <a:ext cx="28643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Calibri"/>
              </a:rPr>
              <a:t>FEEDBACK CAPTURE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960120"/>
            <a:ext cx="2864358" cy="7315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" y="978408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Feedback Capture – All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" y="115214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129844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Feedback submission API backend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" y="1431036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555555"/>
                </a:solidFill>
                <a:latin typeface="Calibri"/>
              </a:rPr>
              <a:t>● </a:t>
            </a:r>
            <a:r>
              <a:rPr sz="750" b="1">
                <a:solidFill>
                  <a:srgbClr val="555555"/>
                </a:solidFill>
                <a:latin typeface="Calibri"/>
              </a:rPr>
              <a:t>PLANNED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" y="1577339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Feedback Form frontend component (D&amp;D, Macro, Preview)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" y="170992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Feedback Form API integration in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" y="1842515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Feedback analytics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" y="1975103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Feedback form frequency &amp; TTL settings in SDK Manager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47238" y="658368"/>
            <a:ext cx="10972" cy="5925312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38678" y="749808"/>
            <a:ext cx="2864358" cy="22860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38678" y="777240"/>
            <a:ext cx="28643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Calibri"/>
              </a:rPr>
              <a:t>BACKEND – INFRA &amp; MIGRATION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38678" y="960120"/>
            <a:ext cx="2864358" cy="7315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38678" y="978408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Monorepo Migration – Backend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8678" y="115214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555555"/>
                </a:solidFill>
                <a:latin typeface="Calibri"/>
              </a:rPr>
              <a:t>● </a:t>
            </a:r>
            <a:r>
              <a:rPr sz="750" b="1">
                <a:solidFill>
                  <a:srgbClr val="555555"/>
                </a:solidFill>
                <a:latin typeface="Calibri"/>
              </a:rPr>
              <a:t>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6694" y="129844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Config-driven backend URL resolution (Check &amp; Care SDK)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6694" y="143103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Datadog monitoring migration &amp; shared library alignment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38678" y="1636776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Production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38678" y="1810512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66694" y="195681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Sprint 48 production log monitoring &amp; alerting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6" y="658368"/>
            <a:ext cx="10972" cy="5925312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85916" y="749808"/>
            <a:ext cx="2864358" cy="22860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85916" y="777240"/>
            <a:ext cx="28643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Calibri"/>
              </a:rPr>
              <a:t>DEVOPS &amp; SDK MANAGER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5916" y="960120"/>
            <a:ext cx="2864358" cy="7315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85916" y="978408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DevOps – Apply DevOps Practices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5916" y="115214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3931" y="129844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Sprint 48 CI/CD workflow maintenance &amp; fixes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3931" y="143103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Azure infrastructure provisioning automation discovery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5916" y="1636776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SDK Manager – Misc Enhancements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5916" y="1810512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E7D32"/>
                </a:solidFill>
                <a:latin typeface="Calibri"/>
              </a:rPr>
              <a:t>● </a:t>
            </a:r>
            <a:r>
              <a:rPr sz="750" b="1">
                <a:solidFill>
                  <a:srgbClr val="2E7D32"/>
                </a:solidFill>
                <a:latin typeface="Calibri"/>
              </a:rPr>
              <a:t>COMPLETED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3931" y="195681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Variant Configurations view (backend) delivered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5916" y="208940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13931" y="223570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Environment banner in SDK Manager header (Dev/Stage/PreProd/Prod)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13931" y="236829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Bundle validation alert when deleting assigned bundles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13931" y="2500884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Calendar UI fix for Anicura SDK date entry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3931" y="2633472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Bundle Draft status display correction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1714" y="658368"/>
            <a:ext cx="10972" cy="5925312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33154" y="749808"/>
            <a:ext cx="2864358" cy="22860"/>
          </a:xfrm>
          <a:prstGeom prst="rect">
            <a:avLst/>
          </a:prstGeom>
          <a:solidFill>
            <a:srgbClr val="E8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3154" y="777240"/>
            <a:ext cx="28643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Calibri"/>
              </a:rPr>
              <a:t>QA &amp; CROSS-CUTTING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3154" y="960120"/>
            <a:ext cx="2864358" cy="7315"/>
          </a:xfrm>
          <a:prstGeom prst="rect">
            <a:avLst/>
          </a:prstGeom>
          <a:solidFill>
            <a:srgbClr val="C8C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3154" y="978408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QA Activities – Sprint 48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3154" y="1152144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61170" y="1298448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Integration testing for ToothScan 2.0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61170" y="143103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GA tag verification for ToothScan 2.0 user journey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61170" y="1563624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Image upload scenario verification for ToothScan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3154" y="1769364"/>
            <a:ext cx="286435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  <a:latin typeface="Calibri"/>
              </a:rPr>
              <a:t>Config ID – SDK App Context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3154" y="1943100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565C0"/>
                </a:solidFill>
                <a:latin typeface="Calibri"/>
              </a:rPr>
              <a:t>● </a:t>
            </a:r>
            <a:r>
              <a:rPr sz="750" b="1">
                <a:solidFill>
                  <a:srgbClr val="1565C0"/>
                </a:solidFill>
                <a:latin typeface="Calibri"/>
              </a:rPr>
              <a:t>IN PROGRESS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61170" y="2089404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Config ID integration in SDK app context across API requests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3154" y="2221992"/>
            <a:ext cx="286435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555555"/>
                </a:solidFill>
                <a:latin typeface="Calibri"/>
              </a:rPr>
              <a:t>● </a:t>
            </a:r>
            <a:r>
              <a:rPr sz="750" b="1">
                <a:solidFill>
                  <a:srgbClr val="555555"/>
                </a:solidFill>
                <a:latin typeface="Calibri"/>
              </a:rPr>
              <a:t>PLANNED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61170" y="2368296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Demo application Config ID-based SDK launch support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1170" y="2500884"/>
            <a:ext cx="2736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D3D3D"/>
                </a:solidFill>
                <a:latin typeface="Calibri"/>
              </a:rPr>
              <a:t>Weight range updates for Puppy &amp; Kitten Weight Check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